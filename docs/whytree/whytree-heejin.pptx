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latin typeface="맑은 고딕"/>
              </a:rPr>
              <a:t>WhyTree — 모두의 지원금 (MOJI)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맑은 고딕"/>
              </a:rPr>
              <a:t>이름: heejin   |   날짜: 2026-10-29   |   위로 갈수록 why, 아래로 갈수록 how · 점선 상자 = 아직 하지 않는 일 · 노란 상자 = 팀이 하는 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3048" y="1143000"/>
            <a:ext cx="4572000" cy="640080"/>
          </a:xfrm>
          <a:prstGeom prst="roundRect">
            <a:avLst/>
          </a:prstGeom>
          <a:solidFill>
            <a:srgbClr val="E8F0FE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A1A1A"/>
                </a:solidFill>
                <a:latin typeface="맑은 고딕"/>
              </a:rPr>
              <a:t>영세사업장이 받을 지원을 놓치지 않기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783080"/>
            <a:ext cx="0" cy="27432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3048" y="2057400"/>
            <a:ext cx="45720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1A1A"/>
                </a:solidFill>
                <a:latin typeface="맑은 고딕"/>
              </a:rPr>
              <a:t>5인 미만 대표가 대행 없이 혼자 신청 끝내기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63240"/>
            <a:ext cx="265176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맑은 고딕"/>
              </a:rPr>
              <a:t>어디·언제·어떻게 알기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3063240"/>
            <a:ext cx="265176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맑은 고딕"/>
              </a:rPr>
              <a:t>틀린 안내 안 하기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63240"/>
            <a:ext cx="265176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맑은 고딕"/>
              </a:rPr>
              <a:t>쓸 시간 없어도 신청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063240"/>
            <a:ext cx="265176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1A1A"/>
                </a:solidFill>
                <a:latin typeface="맑은 고딕"/>
              </a:rPr>
              <a:t>대행 비용 안 내기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160520"/>
            <a:ext cx="2240280" cy="685800"/>
          </a:xfrm>
          <a:prstGeom prst="roundRect">
            <a:avLst/>
          </a:prstGeom>
          <a:solidFill>
            <a:srgbClr val="FFE97A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맑은 고딕"/>
              </a:rPr>
              <a:t>사업장 정보 입력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4160520"/>
            <a:ext cx="2240280" cy="685800"/>
          </a:xfrm>
          <a:prstGeom prst="roundRect">
            <a:avLst/>
          </a:prstGeom>
          <a:solidFill>
            <a:srgbClr val="FFE97A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맑은 고딕"/>
              </a:rPr>
              <a:t>공고 수집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4160520"/>
            <a:ext cx="2240280" cy="685800"/>
          </a:xfrm>
          <a:prstGeom prst="roundRect">
            <a:avLst/>
          </a:prstGeom>
          <a:solidFill>
            <a:srgbClr val="FFE97A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맑은 고딕"/>
              </a:rPr>
              <a:t>자격 조건 추출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4160520"/>
            <a:ext cx="2240280" cy="685800"/>
          </a:xfrm>
          <a:prstGeom prst="roundRect">
            <a:avLst/>
          </a:prstGeom>
          <a:solidFill>
            <a:srgbClr val="FFE97A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맑은 고딕"/>
              </a:rPr>
              <a:t>가능 공고 안내·알림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4160520"/>
            <a:ext cx="2240280" cy="685800"/>
          </a:xfrm>
          <a:prstGeom prst="roundRect">
            <a:avLst/>
          </a:prstGeom>
          <a:solidFill>
            <a:srgbClr val="FFE97A"/>
          </a:solidFill>
          <a:ln w="1587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A1A1A"/>
                </a:solidFill>
                <a:latin typeface="맑은 고딕"/>
              </a:rPr>
              <a:t>사업계획서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5257800"/>
            <a:ext cx="1783080" cy="640080"/>
          </a:xfrm>
          <a:prstGeom prst="roundRect">
            <a:avLst/>
          </a:prstGeom>
          <a:noFill/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</a:rPr>
              <a:t>세무 데이터 입력 대체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5257800"/>
            <a:ext cx="1783080" cy="640080"/>
          </a:xfrm>
          <a:prstGeom prst="roundRect">
            <a:avLst/>
          </a:prstGeom>
          <a:noFill/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</a:rPr>
              <a:t>좁힌 분야부터 수집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5257800"/>
            <a:ext cx="1783080" cy="640080"/>
          </a:xfrm>
          <a:prstGeom prst="roundRect">
            <a:avLst/>
          </a:prstGeom>
          <a:noFill/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</a:rPr>
              <a:t>조건·예외·표 유지 파싱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257800"/>
            <a:ext cx="1783080" cy="640080"/>
          </a:xfrm>
          <a:prstGeom prst="roundRect">
            <a:avLst/>
          </a:prstGeom>
          <a:noFill/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</a:rPr>
              <a:t>근거 위치 표시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257800"/>
            <a:ext cx="1783080" cy="640080"/>
          </a:xfrm>
          <a:prstGeom prst="roundRect">
            <a:avLst/>
          </a:prstGeom>
          <a:noFill/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</a:rPr>
              <a:t>마감 임박 알림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5257800"/>
            <a:ext cx="1783080" cy="640080"/>
          </a:xfrm>
          <a:prstGeom prst="roundRect">
            <a:avLst/>
          </a:prstGeom>
          <a:noFill/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</a:rPr>
              <a:t>양식 맞춤 초안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맑은 고딕"/>
              </a:rPr>
              <a:t>수렴 지점: 다섯 가지 일이 모두 '대행 없이 혼자 신청 끝내기'로 모인다.  |  타협 불가 조건: 불확실한 조건을 확정 안내로 바꾸지 않는다.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