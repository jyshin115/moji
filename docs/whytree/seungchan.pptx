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박승찬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9525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F6B4F"/>
                </a:solidFill>
                <a:latin typeface="Pretendard"/>
              </a:rPr>
              <a:t>MOJI(모두의 지원금) — 박승찬의 WhyTree</a:t>
            </a:r>
          </a:p>
        </p:txBody>
      </p:sp>
      <p:sp>
        <p:nvSpPr>
          <p:cNvPr id="100" name="why/how: 대행 없이 혼자 신청 끝내기"/>
          <p:cNvSpPr/>
          <p:nvPr/>
        </p:nvSpPr>
        <p:spPr>
          <a:xfrm>
            <a:off x="4610000" y="1841500"/>
            <a:ext cx="238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대행 없이 혼자 신청 끝내기</a:t>
            </a:r>
          </a:p>
        </p:txBody>
      </p:sp>
      <p:sp>
        <p:nvSpPr>
          <p:cNvPr id="110" name="why/how: 어디·언제·어떻게를 제때 알기"/>
          <p:cNvSpPr/>
          <p:nvPr/>
        </p:nvSpPr>
        <p:spPr>
          <a:xfrm>
            <a:off x="970000" y="2794000"/>
            <a:ext cx="266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어디·언제·어떻게를 제때 알기</a:t>
            </a:r>
          </a:p>
        </p:txBody>
      </p:sp>
      <p:sp>
        <p:nvSpPr>
          <p:cNvPr id="111" name="why/how: 본업 멈추지 않고 신청서 쓰기"/>
          <p:cNvSpPr/>
          <p:nvPr/>
        </p:nvSpPr>
        <p:spPr>
          <a:xfrm>
            <a:off x="4270000" y="2794000"/>
            <a:ext cx="266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본업 멈추지 않고 신청서 쓰기</a:t>
            </a:r>
          </a:p>
        </p:txBody>
      </p:sp>
      <p:sp>
        <p:nvSpPr>
          <p:cNvPr id="112" name="why/how: 이거면 혼자 하겠다는 믿음"/>
          <p:cNvSpPr/>
          <p:nvPr/>
        </p:nvSpPr>
        <p:spPr>
          <a:xfrm>
            <a:off x="7570000" y="2794000"/>
            <a:ext cx="252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"이거면 혼자 하겠다"는 믿음</a:t>
            </a:r>
          </a:p>
        </p:txBody>
      </p:sp>
      <p:sp>
        <p:nvSpPr>
          <p:cNvPr id="120" name="why/how: 신청 가능 공고 안내"/>
          <p:cNvSpPr/>
          <p:nvPr/>
        </p:nvSpPr>
        <p:spPr>
          <a:xfrm>
            <a:off x="400000" y="3746500"/>
            <a:ext cx="196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신청 가능 공고 안내</a:t>
            </a:r>
          </a:p>
        </p:txBody>
      </p:sp>
      <p:sp>
        <p:nvSpPr>
          <p:cNvPr id="121" name="why/how: 마감 전 알림"/>
          <p:cNvSpPr/>
          <p:nvPr/>
        </p:nvSpPr>
        <p:spPr>
          <a:xfrm>
            <a:off x="2660000" y="3746500"/>
            <a:ext cx="140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마감 전 알림</a:t>
            </a:r>
          </a:p>
        </p:txBody>
      </p:sp>
      <p:sp>
        <p:nvSpPr>
          <p:cNvPr id="122" name="why/how: 사업계획서 초안 생성"/>
          <p:cNvSpPr/>
          <p:nvPr/>
        </p:nvSpPr>
        <p:spPr>
          <a:xfrm>
            <a:off x="4360000" y="3746500"/>
            <a:ext cx="196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사업계획서 초안 생성</a:t>
            </a:r>
          </a:p>
        </p:txBody>
      </p:sp>
      <p:sp>
        <p:nvSpPr>
          <p:cNvPr id="123" name="why/how: 파일럿 5곳 한 바퀴"/>
          <p:cNvSpPr/>
          <p:nvPr/>
        </p:nvSpPr>
        <p:spPr>
          <a:xfrm>
            <a:off x="6620000" y="3746500"/>
            <a:ext cx="196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파일럿 5곳 한 바퀴</a:t>
            </a:r>
          </a:p>
        </p:txBody>
      </p:sp>
      <p:sp>
        <p:nvSpPr>
          <p:cNvPr id="124" name="아직 안 함: 선정 가능성 예측 (안 함)"/>
          <p:cNvSpPr/>
          <p:nvPr/>
        </p:nvSpPr>
        <p:spPr>
          <a:xfrm>
            <a:off x="8880000" y="3746500"/>
            <a:ext cx="224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선정 가능성 예측 (안 함)</a:t>
            </a:r>
          </a:p>
        </p:txBody>
      </p:sp>
      <p:sp>
        <p:nvSpPr>
          <p:cNvPr id="132" name="why/how: 사업장 정보 한 번 입력"/>
          <p:cNvSpPr/>
          <p:nvPr/>
        </p:nvSpPr>
        <p:spPr>
          <a:xfrm>
            <a:off x="350000" y="4826000"/>
            <a:ext cx="210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사업장 정보 한 번 입력</a:t>
            </a:r>
          </a:p>
        </p:txBody>
      </p:sp>
      <p:sp>
        <p:nvSpPr>
          <p:cNvPr id="130" name="why/how: 흩어진 공고 수집"/>
          <p:cNvSpPr/>
          <p:nvPr/>
        </p:nvSpPr>
        <p:spPr>
          <a:xfrm>
            <a:off x="2750000" y="4826000"/>
            <a:ext cx="168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흩어진 공고 수집</a:t>
            </a:r>
          </a:p>
        </p:txBody>
      </p:sp>
      <p:sp>
        <p:nvSpPr>
          <p:cNvPr id="131" name="why/how: 자격 대조·가능 여부 표시"/>
          <p:cNvSpPr/>
          <p:nvPr/>
        </p:nvSpPr>
        <p:spPr>
          <a:xfrm>
            <a:off x="4730000" y="4826000"/>
            <a:ext cx="238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자격 대조·가능 여부 표시</a:t>
            </a:r>
          </a:p>
        </p:txBody>
      </p:sp>
      <p:sp>
        <p:nvSpPr>
          <p:cNvPr id="133" name="아직 안 함: 세무 자료로 재무 숫자 자동 입력"/>
          <p:cNvSpPr/>
          <p:nvPr/>
        </p:nvSpPr>
        <p:spPr>
          <a:xfrm>
            <a:off x="7410000" y="4826000"/>
            <a:ext cx="280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세무 자료로 재무 숫자 자동 입력</a:t>
            </a:r>
          </a:p>
        </p:txBody>
      </p:sp>
      <p:cxnSp>
        <p:nvCxnSpPr>
          <p:cNvPr id="200" name="화살표"/>
          <p:cNvCxnSpPr>
            <a:cxnSpLocks/>
            <a:stCxn id="110" idx="0"/>
            <a:endCxn id="100" idx="2"/>
          </p:cNvCxnSpPr>
          <p:nvPr/>
        </p:nvCxnSpPr>
        <p:spPr>
          <a:xfrm flipV="1">
            <a:off x="2300000" y="2349500"/>
            <a:ext cx="350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화살표"/>
          <p:cNvCxnSpPr>
            <a:cxnSpLocks/>
            <a:stCxn id="111" idx="0"/>
            <a:endCxn id="100" idx="2"/>
          </p:cNvCxnSpPr>
          <p:nvPr/>
        </p:nvCxnSpPr>
        <p:spPr>
          <a:xfrm flipV="1">
            <a:off x="5600000" y="2349500"/>
            <a:ext cx="20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화살표"/>
          <p:cNvCxnSpPr>
            <a:cxnSpLocks/>
            <a:stCxn id="112" idx="0"/>
            <a:endCxn id="100" idx="2"/>
          </p:cNvCxnSpPr>
          <p:nvPr/>
        </p:nvCxnSpPr>
        <p:spPr>
          <a:xfrm flipH="1" flipV="1">
            <a:off x="5800000" y="2349500"/>
            <a:ext cx="303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화살표"/>
          <p:cNvCxnSpPr>
            <a:cxnSpLocks/>
            <a:stCxn id="120" idx="0"/>
            <a:endCxn id="110" idx="2"/>
          </p:cNvCxnSpPr>
          <p:nvPr/>
        </p:nvCxnSpPr>
        <p:spPr>
          <a:xfrm flipV="1">
            <a:off x="1380000" y="3302000"/>
            <a:ext cx="92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화살표"/>
          <p:cNvCxnSpPr>
            <a:cxnSpLocks/>
            <a:stCxn id="121" idx="0"/>
            <a:endCxn id="110" idx="2"/>
          </p:cNvCxnSpPr>
          <p:nvPr/>
        </p:nvCxnSpPr>
        <p:spPr>
          <a:xfrm flipH="1" flipV="1">
            <a:off x="2300000" y="3302000"/>
            <a:ext cx="106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화살표"/>
          <p:cNvCxnSpPr>
            <a:cxnSpLocks/>
            <a:stCxn id="122" idx="0"/>
            <a:endCxn id="111" idx="2"/>
          </p:cNvCxnSpPr>
          <p:nvPr/>
        </p:nvCxnSpPr>
        <p:spPr>
          <a:xfrm flipV="1">
            <a:off x="5340000" y="3302000"/>
            <a:ext cx="26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화살표"/>
          <p:cNvCxnSpPr>
            <a:cxnSpLocks/>
            <a:stCxn id="123" idx="0"/>
            <a:endCxn id="112" idx="2"/>
          </p:cNvCxnSpPr>
          <p:nvPr/>
        </p:nvCxnSpPr>
        <p:spPr>
          <a:xfrm flipV="1">
            <a:off x="7600000" y="3302000"/>
            <a:ext cx="123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화살표 (점선)"/>
          <p:cNvCxnSpPr>
            <a:cxnSpLocks/>
            <a:stCxn id="124" idx="0"/>
            <a:endCxn id="110" idx="2"/>
          </p:cNvCxnSpPr>
          <p:nvPr/>
        </p:nvCxnSpPr>
        <p:spPr>
          <a:xfrm flipH="1" flipV="1">
            <a:off x="2300000" y="3302000"/>
            <a:ext cx="7700000" cy="4445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화살표"/>
          <p:cNvCxnSpPr>
            <a:cxnSpLocks/>
            <a:stCxn id="132" idx="0"/>
            <a:endCxn id="120" idx="2"/>
          </p:cNvCxnSpPr>
          <p:nvPr/>
        </p:nvCxnSpPr>
        <p:spPr>
          <a:xfrm flipH="1" flipV="1">
            <a:off x="1380000" y="4254500"/>
            <a:ext cx="20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화살표"/>
          <p:cNvCxnSpPr>
            <a:cxnSpLocks/>
            <a:stCxn id="130" idx="0"/>
            <a:endCxn id="120" idx="2"/>
          </p:cNvCxnSpPr>
          <p:nvPr/>
        </p:nvCxnSpPr>
        <p:spPr>
          <a:xfrm flipH="1" flipV="1">
            <a:off x="1380000" y="4254500"/>
            <a:ext cx="2210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화살표"/>
          <p:cNvCxnSpPr>
            <a:cxnSpLocks/>
            <a:stCxn id="131" idx="0"/>
            <a:endCxn id="120" idx="2"/>
          </p:cNvCxnSpPr>
          <p:nvPr/>
        </p:nvCxnSpPr>
        <p:spPr>
          <a:xfrm flipH="1" flipV="1">
            <a:off x="1380000" y="4254500"/>
            <a:ext cx="4540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화살표 (점선)"/>
          <p:cNvCxnSpPr>
            <a:cxnSpLocks/>
            <a:stCxn id="132" idx="0"/>
            <a:endCxn id="122" idx="2"/>
          </p:cNvCxnSpPr>
          <p:nvPr/>
        </p:nvCxnSpPr>
        <p:spPr>
          <a:xfrm flipV="1">
            <a:off x="1400000" y="4254500"/>
            <a:ext cx="3940000" cy="5715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화살표 (점선)"/>
          <p:cNvCxnSpPr>
            <a:cxnSpLocks/>
            <a:stCxn id="133" idx="0"/>
            <a:endCxn id="122" idx="2"/>
          </p:cNvCxnSpPr>
          <p:nvPr/>
        </p:nvCxnSpPr>
        <p:spPr>
          <a:xfrm flipH="1" flipV="1">
            <a:off x="5340000" y="4254500"/>
            <a:ext cx="3470000" cy="5715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범례"/>
          <p:cNvSpPr txBox="1"/>
          <p:nvPr/>
        </p:nvSpPr>
        <p:spPr>
          <a:xfrm>
            <a:off x="400000" y="5600000"/>
            <a:ext cx="11392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sz="1100">
                <a:solidFill>
                  <a:srgbClr val="3E4C47"/>
                </a:solidFill>
                <a:latin typeface="Pretendard"/>
              </a:rPr>
              <a:t>'사업장 정보 한 번 입력'의 가장 중요한 why는 '신청 가능 공고 안내'라서 실선, '사업계획서 초안 생성'에도 쓰이므로 점선으로 이었습니다. 점선 상자는 지금 하지 않는 일입니다.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